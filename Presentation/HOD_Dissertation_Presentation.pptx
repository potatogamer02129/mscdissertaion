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HOD and faculty. Today I am presenting the progress of my MSc dissertation, which focuses on building a computational suite to discover and model novel protein targets for agricultural pest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give some background, modern agriculture is fighting a losing battle against pesticide resistance. Furthermore, the chemicals we use are often toxic to bees and aquatic life. The goal of modern research is to design chemicals that only target specific proteins unique to the pest, leaving other organisms unharmed.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problem we face is a massive data gap. Pests like the Cotton Bollworm aren't studied as much as humans or mice. We often find chemical compounds that work, but we don't know their protein target. And even if we guess the target, we don't have its 3D structure for that specific pest species to study how the drug binds.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Therefore, the objective of my dissertation is to build a two-module software suite. First, a tool to predict what protein a chemical will attack. Second, a tool to find that protein's sequence in a pest's DNA and predict its 3D shape, all packaged in a clean web interface.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Module 1. This is the chemoinformatics engine. It operates on a fundamental law of medicinal chemistry: if two chemicals look similar, they probably do the same thing. If a user inputs a new chemical, this tool predicts its target based on what similar chemicals 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this to work, I needed high-quality data. I procured a dataset from the ChEMBL database, specifically filtering for insect targets. To make it highly contestable for my viva, I also integrated a secondary dataset manually curated from literature to provide a 'ground truth' baseline.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Module 1 uses RDKit. It takes the chemical structure and converts it into a Morgan Fingerprint—a mathematical representation of its atoms. It then uses the Tanimoto coefficient to mathematically score how closely this new chemical matches thousands of known insect poisons in our database.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accuracy, the tool doesn't just look at one match. It groups matches by target and calculates a mean score. If the chemical matches a highly verified target from my literature dataset, the algorithm applies a statistical 'Literature Bonus' to boost its rank, ensuring we prioritize validated biological pathways.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transition to Module 2. Let's say Module 1 predicts our chemical attacks 'Protein X'. We might have the sequence for Protein X in a common fruit fly, but not in the specific pest destroying crops. Module 2 solves this by finding the equivalent protein in the pest's raw DNA.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connects directly to NCBI's supercomputers via an API. It takes our reference protein and uses the 'tblastn' algorithm to scan the entire raw nucleotide database of the pest species, hunting for genetic fragments that match our target.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NCBI finds a match, it usually returns raw, fragmented DNA. My Python script acts as an assembler. It cleans the gaps, translates the DNA, and runs a custom Open Reading Frame algorithm to find the exact start and stop points of the functional protein, effectively doing 'in silico cloning'.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we have the pest's exact protein sequence, we need its 3D shape to see how drugs bind to it. Instead of waiting hours for AlphaFold, I integrated Meta's ESMFold API. It uses AI language models to accurately predict the 3D structure in milliseconds, which is then rendered directly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workflow in action: A chemist creates a new molecule. Module 1 tells them it likely targets AChE. They take a standard AChE sequence, plug it into Module 2, type in their specific pest, and within two minutes, they have a 3D model of the pest's AChE ready for docking analysis.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entire suite was built using Python. Streamlit handles the web dashboard, allowing for a clean, multipage app. RDKit handles the heavy chemical math, BioPython manages the complex biological sequence parsing and NCBI communication, and Py3DMol handles the 3D graphics.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discussions with my mentor, we identified a missing piece: safety. An insecticide is useless if it damages human livers. Before submitting my thesis, I will be adding a third module: a Hepatotoxicity Predictor. This will flag compounds that might be dangerous to mammals early in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ultimate significance of this dissertation is accessibility. It takes complex chemoinformatics and command-line genomic mining and puts it behind a simple web interface. It compresses what would normally take months of wet-lab work into a pipeline that runs in under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core framework of the suite is fully operational. The integration of chemical similarity and structural homology works seamlessly. My next steps are finishing the toxicity module and writing the thesis. Thank you for your time, I am happy to take any questions or feedback from the committee.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In Silico Approaches for Novel Insecticidal Target Identification</a:t>
            </a:r>
          </a:p>
        </p:txBody>
      </p:sp>
      <p:sp>
        <p:nvSpPr>
          <p:cNvPr id="3" name="Subtitle 2"/>
          <p:cNvSpPr>
            <a:spLocks noGrp="1"/>
          </p:cNvSpPr>
          <p:nvPr>
            <p:ph type="subTitle" idx="1"/>
          </p:nvPr>
        </p:nvSpPr>
        <p:spPr/>
        <p:txBody>
          <a:bodyPr/>
          <a:lstStyle/>
          <a:p/>
          <a:p>
            <a:pPr>
              <a:defRPr sz="2000"/>
            </a:pPr>
            <a:r>
              <a:t>MSc Dissertation Proposal &amp; Tool Demonstration</a:t>
            </a:r>
          </a:p>
          <a:p>
            <a:pPr>
              <a:defRPr sz="2000"/>
            </a:pPr>
            <a:r>
              <a:t>Domain: Bioinformatics &amp; Chemoinformatics</a:t>
            </a:r>
          </a:p>
          <a:p>
            <a:pPr>
              <a:defRPr sz="2000"/>
            </a:pPr>
            <a:r>
              <a:t>Candidate: MSc Student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Introduction &amp; Background</a:t>
            </a:r>
          </a:p>
        </p:txBody>
      </p:sp>
      <p:sp>
        <p:nvSpPr>
          <p:cNvPr id="3" name="Content Placeholder 2"/>
          <p:cNvSpPr>
            <a:spLocks noGrp="1"/>
          </p:cNvSpPr>
          <p:nvPr>
            <p:ph idx="1"/>
          </p:nvPr>
        </p:nvSpPr>
        <p:spPr/>
        <p:txBody>
          <a:bodyPr/>
          <a:lstStyle/>
          <a:p/>
          <a:p>
            <a:pPr>
              <a:defRPr sz="2200"/>
            </a:pPr>
            <a:r>
              <a:t>Traditional pest control relies heavily on broad-spectrum chemical insecticides.</a:t>
            </a:r>
          </a:p>
          <a:p>
            <a:pPr>
              <a:defRPr sz="2200"/>
            </a:pPr>
            <a:r>
              <a:t>This leads to two major crises:</a:t>
            </a:r>
          </a:p>
          <a:p>
            <a:pPr lvl="1">
              <a:defRPr sz="1800"/>
            </a:pPr>
            <a:r>
              <a:t>  - Environmental toxicity and harm to non-target species.</a:t>
            </a:r>
          </a:p>
          <a:p>
            <a:pPr lvl="1">
              <a:defRPr sz="1800"/>
            </a:pPr>
            <a:r>
              <a:t>  - Rapid development of pesticide resistance in insect populations.</a:t>
            </a:r>
          </a:p>
          <a:p>
            <a:pPr>
              <a:defRPr sz="2200"/>
            </a:pPr>
            <a:r>
              <a:t>The modern alternative is 'Rational Pesticide Design': targeting species-specific proteins.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The Problem Statement</a:t>
            </a:r>
          </a:p>
        </p:txBody>
      </p:sp>
      <p:sp>
        <p:nvSpPr>
          <p:cNvPr id="3" name="Content Placeholder 2"/>
          <p:cNvSpPr>
            <a:spLocks noGrp="1"/>
          </p:cNvSpPr>
          <p:nvPr>
            <p:ph idx="1"/>
          </p:nvPr>
        </p:nvSpPr>
        <p:spPr/>
        <p:txBody>
          <a:bodyPr/>
          <a:lstStyle/>
          <a:p/>
          <a:p>
            <a:pPr>
              <a:defRPr sz="2200"/>
            </a:pPr>
            <a:r>
              <a:t>Rational design requires structural data, but we face a 'Data Scarcity' bottleneck.</a:t>
            </a:r>
          </a:p>
          <a:p>
            <a:pPr>
              <a:defRPr sz="2200"/>
            </a:pPr>
            <a:r>
              <a:t>Non-Model Organisms: Most agricultural pests do not have fully sequenced genomes.</a:t>
            </a:r>
          </a:p>
          <a:p>
            <a:pPr>
              <a:defRPr sz="2200"/>
            </a:pPr>
            <a:r>
              <a:t>Orphan Ligands: We often discover chemicals that kill insects, but we don't know WHICH protein they bind to.</a:t>
            </a:r>
          </a:p>
          <a:p>
            <a:pPr>
              <a:defRPr sz="2200"/>
            </a:pPr>
            <a:r>
              <a:t>In Vitro Cost: Identifying targets and folding proteins in a wet lab takes years and massive funding.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Project Objectives</a:t>
            </a:r>
          </a:p>
        </p:txBody>
      </p:sp>
      <p:sp>
        <p:nvSpPr>
          <p:cNvPr id="3" name="Content Placeholder 2"/>
          <p:cNvSpPr>
            <a:spLocks noGrp="1"/>
          </p:cNvSpPr>
          <p:nvPr>
            <p:ph idx="1"/>
          </p:nvPr>
        </p:nvSpPr>
        <p:spPr/>
        <p:txBody>
          <a:bodyPr/>
          <a:lstStyle/>
          <a:p/>
          <a:p>
            <a:pPr>
              <a:defRPr sz="2200"/>
            </a:pPr>
            <a:r>
              <a:t>Develop an integrated, web-based bioinformatics suite to bypass the data scarcity bottleneck.</a:t>
            </a:r>
          </a:p>
          <a:p>
            <a:pPr>
              <a:defRPr sz="2200"/>
            </a:pPr>
            <a:r>
              <a:t>Objective 1: Predict probable protein targets for novel chemical compounds using cheminformatics.</a:t>
            </a:r>
          </a:p>
          <a:p>
            <a:pPr>
              <a:defRPr sz="2200"/>
            </a:pPr>
            <a:r>
              <a:t>Objective 2: Automate the discovery of orthologous target sequences in unsequenced pest transcriptomes.</a:t>
            </a:r>
          </a:p>
          <a:p>
            <a:pPr>
              <a:defRPr sz="2200"/>
            </a:pPr>
            <a:r>
              <a:t>Objective 3: Predict the 3D tertiary structure of these targets in real-time.</a:t>
            </a:r>
          </a:p>
          <a:p>
            <a:pPr>
              <a:defRPr sz="2200"/>
            </a:pPr>
            <a:r>
              <a:t>Objective 4: Ensure the tool is accessible via a user-friendly Streamlit dashboard.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Module 1: Ligand-Based Target Prediction</a:t>
            </a:r>
          </a:p>
        </p:txBody>
      </p:sp>
      <p:sp>
        <p:nvSpPr>
          <p:cNvPr id="3" name="Content Placeholder 2"/>
          <p:cNvSpPr>
            <a:spLocks noGrp="1"/>
          </p:cNvSpPr>
          <p:nvPr>
            <p:ph idx="1"/>
          </p:nvPr>
        </p:nvSpPr>
        <p:spPr/>
        <p:txBody>
          <a:bodyPr/>
          <a:lstStyle/>
          <a:p/>
          <a:p>
            <a:pPr>
              <a:defRPr sz="2200"/>
            </a:pPr>
            <a:r>
              <a:t>The 'Chemoinformatics Engine' of the suite.</a:t>
            </a:r>
          </a:p>
          <a:p>
            <a:pPr>
              <a:defRPr sz="2200"/>
            </a:pPr>
            <a:r>
              <a:t>Core Principle: The Similar Property Principle.</a:t>
            </a:r>
          </a:p>
          <a:p>
            <a:pPr lvl="1">
              <a:defRPr sz="1800"/>
            </a:pPr>
            <a:r>
              <a:t>  - Structurally similar molecules tend to exhibit similar biological activities and bind to similar targets.</a:t>
            </a:r>
          </a:p>
          <a:p>
            <a:pPr>
              <a:defRPr sz="2200"/>
            </a:pPr>
            <a:r>
              <a:t>Function: Takes a user's chemical SMILES string and predicts which insect protein it will disrupt.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Module 1: Datasets &amp; Curation</a:t>
            </a:r>
          </a:p>
        </p:txBody>
      </p:sp>
      <p:sp>
        <p:nvSpPr>
          <p:cNvPr id="3" name="Content Placeholder 2"/>
          <p:cNvSpPr>
            <a:spLocks noGrp="1"/>
          </p:cNvSpPr>
          <p:nvPr>
            <p:ph idx="1"/>
          </p:nvPr>
        </p:nvSpPr>
        <p:spPr/>
        <p:txBody>
          <a:bodyPr/>
          <a:lstStyle/>
          <a:p/>
          <a:p>
            <a:pPr>
              <a:defRPr sz="2200"/>
            </a:pPr>
            <a:r>
              <a:t>Powered by two distinct datasets:</a:t>
            </a:r>
          </a:p>
          <a:p>
            <a:pPr>
              <a:defRPr sz="2200"/>
            </a:pPr>
            <a:r>
              <a:t>1. ChEMBL Database Extraction:</a:t>
            </a:r>
          </a:p>
          <a:p>
            <a:pPr lvl="1">
              <a:defRPr sz="1800"/>
            </a:pPr>
            <a:r>
              <a:t>  - Filtered specifically for insect bioassays and bioactive compounds.</a:t>
            </a:r>
          </a:p>
          <a:p>
            <a:pPr>
              <a:defRPr sz="2200"/>
            </a:pPr>
            <a:r>
              <a:t>2. Literature-Curated Dataset:</a:t>
            </a:r>
          </a:p>
          <a:p>
            <a:pPr lvl="1">
              <a:defRPr sz="1800"/>
            </a:pPr>
            <a:r>
              <a:t>  - High-confidence data extracted manually from published literature.</a:t>
            </a:r>
          </a:p>
          <a:p>
            <a:pPr lvl="1">
              <a:defRPr sz="1800"/>
            </a:pPr>
            <a:r>
              <a:t>  - Strong focus on established targets like Acetylcholinesterase (AChE).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Module 1: Algorithmic Methodology</a:t>
            </a:r>
          </a:p>
        </p:txBody>
      </p:sp>
      <p:sp>
        <p:nvSpPr>
          <p:cNvPr id="3" name="Content Placeholder 2"/>
          <p:cNvSpPr>
            <a:spLocks noGrp="1"/>
          </p:cNvSpPr>
          <p:nvPr>
            <p:ph idx="1"/>
          </p:nvPr>
        </p:nvSpPr>
        <p:spPr/>
        <p:txBody>
          <a:bodyPr/>
          <a:lstStyle/>
          <a:p/>
          <a:p>
            <a:pPr>
              <a:defRPr sz="2200"/>
            </a:pPr>
            <a:r>
              <a:t>Powered by RDKit (Open-source cheminformatics software).</a:t>
            </a:r>
          </a:p>
          <a:p>
            <a:pPr>
              <a:defRPr sz="2200"/>
            </a:pPr>
            <a:r>
              <a:t>Feature Extraction: Morgan Fingerprints.</a:t>
            </a:r>
          </a:p>
          <a:p>
            <a:pPr lvl="1">
              <a:defRPr sz="1800"/>
            </a:pPr>
            <a:r>
              <a:t>  - Converts 2D molecular structures into 2048-bit binary vectors (Radius 2).</a:t>
            </a:r>
          </a:p>
          <a:p>
            <a:pPr lvl="1">
              <a:defRPr sz="1800"/>
            </a:pPr>
            <a:r>
              <a:t>  - Captures the exact atomic neighborhoods of the molecule.</a:t>
            </a:r>
          </a:p>
          <a:p>
            <a:pPr>
              <a:defRPr sz="2200"/>
            </a:pPr>
            <a:r>
              <a:t>Similarity Metric: Tanimoto Coefficient.</a:t>
            </a:r>
          </a:p>
          <a:p>
            <a:pPr lvl="1">
              <a:defRPr sz="1800"/>
            </a:pPr>
            <a:r>
              <a:t>  - Calculates the mathematical overlap between the query's fingerprint and the database compounds.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Module 1: Scoring &amp; Validation</a:t>
            </a:r>
          </a:p>
        </p:txBody>
      </p:sp>
      <p:sp>
        <p:nvSpPr>
          <p:cNvPr id="3" name="Content Placeholder 2"/>
          <p:cNvSpPr>
            <a:spLocks noGrp="1"/>
          </p:cNvSpPr>
          <p:nvPr>
            <p:ph idx="1"/>
          </p:nvPr>
        </p:nvSpPr>
        <p:spPr/>
        <p:txBody>
          <a:bodyPr/>
          <a:lstStyle/>
          <a:p/>
          <a:p>
            <a:pPr>
              <a:defRPr sz="2200"/>
            </a:pPr>
            <a:r>
              <a:t>Mean Similarity Scoring:</a:t>
            </a:r>
          </a:p>
          <a:p>
            <a:pPr lvl="1">
              <a:defRPr sz="1800"/>
            </a:pPr>
            <a:r>
              <a:t>  - Aggregates the Tanimoto scores of all matched ligands for a specific target group.</a:t>
            </a:r>
          </a:p>
          <a:p>
            <a:pPr>
              <a:defRPr sz="2200"/>
            </a:pPr>
            <a:r>
              <a:t>Confidence Labeling:</a:t>
            </a:r>
          </a:p>
          <a:p>
            <a:pPr lvl="1">
              <a:defRPr sz="1800"/>
            </a:pPr>
            <a:r>
              <a:t>  - Dynamically labels predictions as 'High', 'Medium', or 'Low' based on cluster size.</a:t>
            </a:r>
          </a:p>
          <a:p>
            <a:pPr>
              <a:defRPr sz="2200"/>
            </a:pPr>
            <a:r>
              <a:t>The 'Literature Bonus':</a:t>
            </a:r>
          </a:p>
          <a:p>
            <a:pPr lvl="1">
              <a:defRPr sz="1800"/>
            </a:pPr>
            <a:r>
              <a:t>  - If a high-similarity match (&gt;0.6) is found in the curated literature dataset, the algorithm applies a weighted bonus to the final ChEMBL score.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Module 2: Homology Modeler (The Bridge)</a:t>
            </a:r>
          </a:p>
        </p:txBody>
      </p:sp>
      <p:sp>
        <p:nvSpPr>
          <p:cNvPr id="3" name="Content Placeholder 2"/>
          <p:cNvSpPr>
            <a:spLocks noGrp="1"/>
          </p:cNvSpPr>
          <p:nvPr>
            <p:ph idx="1"/>
          </p:nvPr>
        </p:nvSpPr>
        <p:spPr/>
        <p:txBody>
          <a:bodyPr/>
          <a:lstStyle/>
          <a:p/>
          <a:p>
            <a:pPr>
              <a:defRPr sz="2200"/>
            </a:pPr>
            <a:r>
              <a:t>Once a target is predicted (e.g., Target X), we face a new problem:</a:t>
            </a:r>
          </a:p>
          <a:p>
            <a:pPr lvl="1">
              <a:defRPr sz="1800"/>
            </a:pPr>
            <a:r>
              <a:t>  - We know Target X exists in Fruit Flies, but what does it look like in the Diamondback Moth?</a:t>
            </a:r>
          </a:p>
          <a:p>
            <a:pPr>
              <a:defRPr sz="2200"/>
            </a:pPr>
            <a:r>
              <a:t>Module 2 is an 'In Silico Gene Discovery' pipeline.</a:t>
            </a:r>
          </a:p>
          <a:p>
            <a:pPr>
              <a:defRPr sz="2200"/>
            </a:pPr>
            <a:r>
              <a:t>It bridges the gap between known sequences and raw pest transcriptomes.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Module 2: Transcriptome Mining</a:t>
            </a:r>
          </a:p>
        </p:txBody>
      </p:sp>
      <p:sp>
        <p:nvSpPr>
          <p:cNvPr id="3" name="Content Placeholder 2"/>
          <p:cNvSpPr>
            <a:spLocks noGrp="1"/>
          </p:cNvSpPr>
          <p:nvPr>
            <p:ph idx="1"/>
          </p:nvPr>
        </p:nvSpPr>
        <p:spPr/>
        <p:txBody>
          <a:bodyPr/>
          <a:lstStyle/>
          <a:p/>
          <a:p>
            <a:pPr>
              <a:defRPr sz="2200"/>
            </a:pPr>
            <a:r>
              <a:t>Direct Integration with NCBI Remote APIs.</a:t>
            </a:r>
          </a:p>
          <a:p>
            <a:pPr>
              <a:defRPr sz="2200"/>
            </a:pPr>
            <a:r>
              <a:t>Algorithms utilized:</a:t>
            </a:r>
          </a:p>
          <a:p>
            <a:pPr lvl="1">
              <a:defRPr sz="1800"/>
            </a:pPr>
            <a:r>
              <a:t>  - TBLASTN: Compares a protein query against a translated nucleotide database.</a:t>
            </a:r>
          </a:p>
          <a:p>
            <a:pPr lvl="1">
              <a:defRPr sz="1800"/>
            </a:pPr>
            <a:r>
              <a:t>  - BLASTN: Compares a nucleotide query against a nucleotide database.</a:t>
            </a:r>
          </a:p>
          <a:p>
            <a:pPr>
              <a:defRPr sz="2200"/>
            </a:pPr>
            <a:r>
              <a:t>Allows researchers to search massive, unannotated genomic data dynamically without local supercomputers.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Module 2: Sequence Assembly &amp; ORF Finder</a:t>
            </a:r>
          </a:p>
        </p:txBody>
      </p:sp>
      <p:sp>
        <p:nvSpPr>
          <p:cNvPr id="3" name="Content Placeholder 2"/>
          <p:cNvSpPr>
            <a:spLocks noGrp="1"/>
          </p:cNvSpPr>
          <p:nvPr>
            <p:ph idx="1"/>
          </p:nvPr>
        </p:nvSpPr>
        <p:spPr/>
        <p:txBody>
          <a:bodyPr/>
          <a:lstStyle/>
          <a:p/>
          <a:p>
            <a:pPr>
              <a:defRPr sz="2200"/>
            </a:pPr>
            <a:r>
              <a:t>BLAST returns fragmented matches (High-Scoring Segment Pairs).</a:t>
            </a:r>
          </a:p>
          <a:p>
            <a:pPr>
              <a:defRPr sz="2200"/>
            </a:pPr>
            <a:r>
              <a:t>The tool automatically cleans and assembles these fragments.</a:t>
            </a:r>
          </a:p>
          <a:p>
            <a:pPr>
              <a:defRPr sz="2200"/>
            </a:pPr>
            <a:r>
              <a:t>Open Reading Frame (ORF) Extraction:</a:t>
            </a:r>
          </a:p>
          <a:p>
            <a:pPr lvl="1">
              <a:defRPr sz="1800"/>
            </a:pPr>
            <a:r>
              <a:t>  - Custom algorithm translates the raw DNA across all 3 forward reading frames.</a:t>
            </a:r>
          </a:p>
          <a:p>
            <a:pPr lvl="1">
              <a:defRPr sz="1800"/>
            </a:pPr>
            <a:r>
              <a:t>  - Scans for start codons (Methionine) and stop codons.</a:t>
            </a:r>
          </a:p>
          <a:p>
            <a:pPr lvl="1">
              <a:defRPr sz="1800"/>
            </a:pPr>
            <a:r>
              <a:t>  - Extracts the longest, most viable functional protein sequence.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Module 2: 3D Structure Prediction</a:t>
            </a:r>
          </a:p>
        </p:txBody>
      </p:sp>
      <p:sp>
        <p:nvSpPr>
          <p:cNvPr id="3" name="Content Placeholder 2"/>
          <p:cNvSpPr>
            <a:spLocks noGrp="1"/>
          </p:cNvSpPr>
          <p:nvPr>
            <p:ph idx="1"/>
          </p:nvPr>
        </p:nvSpPr>
        <p:spPr/>
        <p:txBody>
          <a:bodyPr/>
          <a:lstStyle/>
          <a:p/>
          <a:p>
            <a:pPr>
              <a:defRPr sz="2200"/>
            </a:pPr>
            <a:r>
              <a:t>Traditional methods (AlphaFold, Swiss-Model) are too slow for real-time web tools.</a:t>
            </a:r>
          </a:p>
          <a:p>
            <a:pPr>
              <a:defRPr sz="2200"/>
            </a:pPr>
            <a:r>
              <a:t>Solution: Integration of the ESMFold API (Meta AI).</a:t>
            </a:r>
          </a:p>
          <a:p>
            <a:pPr lvl="1">
              <a:defRPr sz="1800"/>
            </a:pPr>
            <a:r>
              <a:t>  - Uses a massive protein language model (LLM for biology).</a:t>
            </a:r>
          </a:p>
          <a:p>
            <a:pPr lvl="1">
              <a:defRPr sz="1800"/>
            </a:pPr>
            <a:r>
              <a:t>  - Folds the newly discovered target sequence into a 3D PDB structure in milliseconds.</a:t>
            </a:r>
          </a:p>
          <a:p>
            <a:pPr lvl="1">
              <a:defRPr sz="1800"/>
            </a:pPr>
            <a:r>
              <a:t>  - Rendered interactively in the browser using py3Dmol.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The Synergistic Workflow</a:t>
            </a:r>
          </a:p>
        </p:txBody>
      </p:sp>
      <p:sp>
        <p:nvSpPr>
          <p:cNvPr id="3" name="Content Placeholder 2"/>
          <p:cNvSpPr>
            <a:spLocks noGrp="1"/>
          </p:cNvSpPr>
          <p:nvPr>
            <p:ph idx="1"/>
          </p:nvPr>
        </p:nvSpPr>
        <p:spPr/>
        <p:txBody>
          <a:bodyPr/>
          <a:lstStyle/>
          <a:p/>
          <a:p>
            <a:pPr>
              <a:defRPr sz="2200"/>
            </a:pPr>
            <a:r>
              <a:t>How the suite functions end-to-end for a researcher:</a:t>
            </a:r>
          </a:p>
          <a:p>
            <a:pPr>
              <a:defRPr sz="2200"/>
            </a:pPr>
            <a:r>
              <a:t>1. Input novel molecule.</a:t>
            </a:r>
          </a:p>
          <a:p>
            <a:pPr>
              <a:defRPr sz="2200"/>
            </a:pPr>
            <a:r>
              <a:t>2. Module 1 identifies 'Acetylcholinesterase' as the likely target.</a:t>
            </a:r>
          </a:p>
          <a:p>
            <a:pPr>
              <a:defRPr sz="2200"/>
            </a:pPr>
            <a:r>
              <a:t>3. User pushes the generic AChE sequence to Module 2.</a:t>
            </a:r>
          </a:p>
          <a:p>
            <a:pPr>
              <a:defRPr sz="2200"/>
            </a:pPr>
            <a:r>
              <a:t>4. Module 2 isolates the specific AChE gene in the target pest.</a:t>
            </a:r>
          </a:p>
          <a:p>
            <a:pPr>
              <a:defRPr sz="2200"/>
            </a:pPr>
            <a:r>
              <a:t>5. Module 2 folds the pest-specific AChE 3D structure.</a:t>
            </a:r>
          </a:p>
          <a:p>
            <a:pPr>
              <a:defRPr sz="2200"/>
            </a:pPr>
            <a:r>
              <a:t>Result: The researcher is immediately ready for molecular docking simulations.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Technology Stack</a:t>
            </a:r>
          </a:p>
        </p:txBody>
      </p:sp>
      <p:sp>
        <p:nvSpPr>
          <p:cNvPr id="3" name="Content Placeholder 2"/>
          <p:cNvSpPr>
            <a:spLocks noGrp="1"/>
          </p:cNvSpPr>
          <p:nvPr>
            <p:ph idx="1"/>
          </p:nvPr>
        </p:nvSpPr>
        <p:spPr/>
        <p:txBody>
          <a:bodyPr/>
          <a:lstStyle/>
          <a:p/>
          <a:p>
            <a:pPr>
              <a:defRPr sz="2200"/>
            </a:pPr>
            <a:r>
              <a:t>Front-End / UI:</a:t>
            </a:r>
          </a:p>
          <a:p>
            <a:pPr lvl="1">
              <a:defRPr sz="1800"/>
            </a:pPr>
            <a:r>
              <a:t>  - Streamlit (Python-based reactive web framework)</a:t>
            </a:r>
          </a:p>
          <a:p>
            <a:pPr>
              <a:defRPr sz="2200"/>
            </a:pPr>
            <a:r>
              <a:t>Back-End / Bioinformatics:</a:t>
            </a:r>
          </a:p>
          <a:p>
            <a:pPr lvl="1">
              <a:defRPr sz="1800"/>
            </a:pPr>
            <a:r>
              <a:t>  - BioPython (NCBI WWW, Seq, Entrez)</a:t>
            </a:r>
          </a:p>
          <a:p>
            <a:pPr>
              <a:defRPr sz="2200"/>
            </a:pPr>
            <a:r>
              <a:t>Chemoinformatics:</a:t>
            </a:r>
          </a:p>
          <a:p>
            <a:pPr lvl="1">
              <a:defRPr sz="1800"/>
            </a:pPr>
            <a:r>
              <a:t>  - RDKit, Pandas</a:t>
            </a:r>
          </a:p>
          <a:p>
            <a:pPr>
              <a:defRPr sz="2200"/>
            </a:pPr>
            <a:r>
              <a:t>Visualization &amp; APIs:</a:t>
            </a:r>
          </a:p>
          <a:p>
            <a:pPr lvl="1">
              <a:defRPr sz="1800"/>
            </a:pPr>
            <a:r>
              <a:t>  - py3Dmol, ESMFold REST API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14. Phase 3: Mentor's Addition - Hepatotoxicity</a:t>
            </a:r>
          </a:p>
        </p:txBody>
      </p:sp>
      <p:sp>
        <p:nvSpPr>
          <p:cNvPr id="3" name="Content Placeholder 2"/>
          <p:cNvSpPr>
            <a:spLocks noGrp="1"/>
          </p:cNvSpPr>
          <p:nvPr>
            <p:ph idx="1"/>
          </p:nvPr>
        </p:nvSpPr>
        <p:spPr/>
        <p:txBody>
          <a:bodyPr/>
          <a:lstStyle/>
          <a:p/>
          <a:p>
            <a:pPr>
              <a:defRPr sz="2200"/>
            </a:pPr>
            <a:r>
              <a:t>Future Work &amp; Final Implementation.</a:t>
            </a:r>
          </a:p>
          <a:p>
            <a:pPr>
              <a:defRPr sz="2200"/>
            </a:pPr>
            <a:r>
              <a:t>Problem: Many great insecticidal compounds fail because they cause Drug-Induced Liver Injury (DILI) in humans/mammals.</a:t>
            </a:r>
          </a:p>
          <a:p>
            <a:pPr>
              <a:defRPr sz="2200"/>
            </a:pPr>
            <a:r>
              <a:t>Proposed Addition: A Hepatotoxicity Predictor.</a:t>
            </a:r>
          </a:p>
          <a:p>
            <a:pPr>
              <a:defRPr sz="2200"/>
            </a:pPr>
            <a:r>
              <a:t>Will utilize a similar RDKit/Machine Learning approach to flag compounds that share structural motifs with known liver toxins.</a:t>
            </a:r>
          </a:p>
          <a:p>
            <a:pPr>
              <a:defRPr sz="2200"/>
            </a:pPr>
            <a:r>
              <a:t>Ensures early-stage safety screening.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15. Significance &amp; Impact</a:t>
            </a:r>
          </a:p>
        </p:txBody>
      </p:sp>
      <p:sp>
        <p:nvSpPr>
          <p:cNvPr id="3" name="Content Placeholder 2"/>
          <p:cNvSpPr>
            <a:spLocks noGrp="1"/>
          </p:cNvSpPr>
          <p:nvPr>
            <p:ph idx="1"/>
          </p:nvPr>
        </p:nvSpPr>
        <p:spPr/>
        <p:txBody>
          <a:bodyPr/>
          <a:lstStyle/>
          <a:p/>
          <a:p>
            <a:pPr>
              <a:defRPr sz="2200"/>
            </a:pPr>
            <a:r>
              <a:t>Bypasses the 'Orphan Target' problem in agrochemicals.</a:t>
            </a:r>
          </a:p>
          <a:p>
            <a:pPr>
              <a:defRPr sz="2200"/>
            </a:pPr>
            <a:r>
              <a:t>Democratizes advanced bioinformatics:</a:t>
            </a:r>
          </a:p>
          <a:p>
            <a:pPr lvl="1">
              <a:defRPr sz="1800"/>
            </a:pPr>
            <a:r>
              <a:t>  - Replaces complex command-line pipelines with a clean graphical interface.</a:t>
            </a:r>
          </a:p>
          <a:p>
            <a:pPr>
              <a:defRPr sz="2200"/>
            </a:pPr>
            <a:r>
              <a:t>Reduces Time &amp; Cost:</a:t>
            </a:r>
          </a:p>
          <a:p>
            <a:pPr lvl="1">
              <a:defRPr sz="1800"/>
            </a:pPr>
            <a:r>
              <a:t>  - Compresses months of wet-lab target identification and cloning into a few minutes of computational 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16. Conclusion</a:t>
            </a:r>
          </a:p>
        </p:txBody>
      </p:sp>
      <p:sp>
        <p:nvSpPr>
          <p:cNvPr id="3" name="Content Placeholder 2"/>
          <p:cNvSpPr>
            <a:spLocks noGrp="1"/>
          </p:cNvSpPr>
          <p:nvPr>
            <p:ph idx="1"/>
          </p:nvPr>
        </p:nvSpPr>
        <p:spPr/>
        <p:txBody>
          <a:bodyPr/>
          <a:lstStyle/>
          <a:p/>
          <a:p>
            <a:pPr>
              <a:defRPr sz="2200"/>
            </a:pPr>
            <a:r>
              <a:t>Modules 1 and 2 are successfully developed, integrated, and functioning.</a:t>
            </a:r>
          </a:p>
          <a:p>
            <a:pPr>
              <a:defRPr sz="2200"/>
            </a:pPr>
            <a:r>
              <a:t>The pipeline successfully links chemical queries to structural biology.</a:t>
            </a:r>
          </a:p>
          <a:p>
            <a:pPr>
              <a:defRPr sz="2200"/>
            </a:pPr>
            <a:r>
              <a:t>Next Steps:</a:t>
            </a:r>
          </a:p>
          <a:p>
            <a:pPr lvl="1">
              <a:defRPr sz="1800"/>
            </a:pPr>
            <a:r>
              <a:t>  - Finalize the Hepatotoxicity module.</a:t>
            </a:r>
          </a:p>
          <a:p>
            <a:pPr lvl="1">
              <a:defRPr sz="1800"/>
            </a:pPr>
            <a:r>
              <a:t>  - Complete rigorous edge-case testing.</a:t>
            </a:r>
          </a:p>
          <a:p>
            <a:pPr lvl="1">
              <a:defRPr sz="1800"/>
            </a:pPr>
            <a:r>
              <a:t>  - Begin drafting the thesis manuscript.</a:t>
            </a:r>
          </a:p>
          <a:p>
            <a:pPr>
              <a:defRPr sz="2200"/>
            </a:pPr>
            <a:r>
              <a:t>Thank you. Open for feedback from the review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